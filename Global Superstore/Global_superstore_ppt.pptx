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40">
          <p15:clr>
            <a:srgbClr val="A4A3A4"/>
          </p15:clr>
        </p15:guide>
        <p15:guide id="2" pos="144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iTJtK3qJJIJwyh1HCEAp6Aua/f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40" orient="horz"/>
        <p:guide pos="1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:notes"/>
          <p:cNvSpPr/>
          <p:nvPr>
            <p:ph idx="2" type="sldImg"/>
          </p:nvPr>
        </p:nvSpPr>
        <p:spPr>
          <a:xfrm>
            <a:off x="533400" y="763588"/>
            <a:ext cx="6704013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fab98468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5fab984687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4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4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 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4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  <p:sp>
        <p:nvSpPr>
          <p:cNvPr id="46" name="Google Shape;4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1"/>
          <p:cNvSpPr txBox="1"/>
          <p:nvPr>
            <p:ph type="title"/>
          </p:nvPr>
        </p:nvSpPr>
        <p:spPr>
          <a:xfrm>
            <a:off x="628560" y="273780"/>
            <a:ext cx="7886430" cy="993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51"/>
          <p:cNvSpPr txBox="1"/>
          <p:nvPr>
            <p:ph idx="1" type="subTitle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sign&#10;&#10;Description automatically generated" id="6" name="Google Shape;6;p4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18831" y="0"/>
            <a:ext cx="1226897" cy="41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76550" y="4271"/>
            <a:ext cx="606402" cy="4016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8;p45"/>
          <p:cNvCxnSpPr/>
          <p:nvPr/>
        </p:nvCxnSpPr>
        <p:spPr>
          <a:xfrm>
            <a:off x="8201252" y="-5713"/>
            <a:ext cx="0" cy="411586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5"/>
          <p:cNvPicPr preferRelativeResize="0"/>
          <p:nvPr/>
        </p:nvPicPr>
        <p:blipFill rotWithShape="1">
          <a:blip r:embed="rId3">
            <a:alphaModFix/>
          </a:blip>
          <a:srcRect b="0" l="5562" r="5562" t="0"/>
          <a:stretch/>
        </p:blipFill>
        <p:spPr>
          <a:xfrm>
            <a:off x="1426" y="0"/>
            <a:ext cx="914257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 txBox="1"/>
          <p:nvPr/>
        </p:nvSpPr>
        <p:spPr>
          <a:xfrm>
            <a:off x="938824" y="2446434"/>
            <a:ext cx="4405169" cy="6401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SAP-Based Global Superstore Dashboard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613211" y="1436873"/>
            <a:ext cx="2200508" cy="8713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 up of a sign&#10;&#10;Description automatically generated" id="60" name="Google Shape;6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5579" y="1767104"/>
            <a:ext cx="1050529" cy="294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84810" y="1715780"/>
            <a:ext cx="599270" cy="3968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5"/>
          <p:cNvCxnSpPr/>
          <p:nvPr/>
        </p:nvCxnSpPr>
        <p:spPr>
          <a:xfrm>
            <a:off x="2854710" y="1655590"/>
            <a:ext cx="0" cy="475451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5"/>
          <p:cNvSpPr txBox="1"/>
          <p:nvPr/>
        </p:nvSpPr>
        <p:spPr>
          <a:xfrm>
            <a:off x="1379190" y="2975622"/>
            <a:ext cx="352443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-Akshita Vijaybhai Parekh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-Harsh Parmar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5fab984687_2_0"/>
          <p:cNvSpPr txBox="1"/>
          <p:nvPr>
            <p:ph type="title"/>
          </p:nvPr>
        </p:nvSpPr>
        <p:spPr>
          <a:xfrm>
            <a:off x="364822" y="867160"/>
            <a:ext cx="3009530" cy="2142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16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g5fab984687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375" y="1228377"/>
            <a:ext cx="3194940" cy="319494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5fab984687_2_0"/>
          <p:cNvSpPr txBox="1"/>
          <p:nvPr/>
        </p:nvSpPr>
        <p:spPr>
          <a:xfrm>
            <a:off x="364822" y="1365005"/>
            <a:ext cx="2901324" cy="27719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Overview – Introduction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Users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Wow Factor in Project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Modelling/Block Diagram/Flow of Project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Result/outcomes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Perspective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3979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3979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3979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3979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3979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>
                <a:solidFill>
                  <a:srgbClr val="002060"/>
                </a:solidFill>
              </a:rPr>
              <a:t>Problem Statement</a:t>
            </a:r>
            <a:endParaRPr/>
          </a:p>
        </p:txBody>
      </p:sp>
      <p:sp>
        <p:nvSpPr>
          <p:cNvPr id="76" name="Google Shape;76;p8"/>
          <p:cNvSpPr txBox="1"/>
          <p:nvPr/>
        </p:nvSpPr>
        <p:spPr>
          <a:xfrm>
            <a:off x="542926" y="1293019"/>
            <a:ext cx="6943725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 retail organizations struggle with real-time analysis of sales, profit, and customer trends across multiple regions.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Existing reporting methods are time-consuming and lack interactivity.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need for a centralized, dynamic dashboard that enables quick decision-making.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>
                <a:solidFill>
                  <a:srgbClr val="002060"/>
                </a:solidFill>
              </a:rPr>
              <a:t>Project overview - Introduction</a:t>
            </a:r>
            <a:endParaRPr/>
          </a:p>
        </p:txBody>
      </p:sp>
      <p:sp>
        <p:nvSpPr>
          <p:cNvPr id="82" name="Google Shape;82;p36"/>
          <p:cNvSpPr/>
          <p:nvPr/>
        </p:nvSpPr>
        <p:spPr>
          <a:xfrm>
            <a:off x="585787" y="1970058"/>
            <a:ext cx="6762506" cy="477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6"/>
          <p:cNvSpPr/>
          <p:nvPr/>
        </p:nvSpPr>
        <p:spPr>
          <a:xfrm flipH="1">
            <a:off x="435077" y="831285"/>
            <a:ext cx="8273845" cy="3231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project focuses on leveraging</a:t>
            </a:r>
            <a:r>
              <a:rPr lang="en" sz="2400">
                <a:solidFill>
                  <a:schemeClr val="dk1"/>
                </a:solidFill>
              </a:rPr>
              <a:t> kaggle d</a:t>
            </a: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 and Power BI to create a comprehensive dashboard for a global superstore.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dashboard provides real-time insights into sales, profits, and customer trends.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aim is to streamline data visualization and enhance operational efficiency.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6"/>
          <p:cNvSpPr/>
          <p:nvPr/>
        </p:nvSpPr>
        <p:spPr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6"/>
          <p:cNvSpPr/>
          <p:nvPr/>
        </p:nvSpPr>
        <p:spPr>
          <a:xfrm>
            <a:off x="0" y="15875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>
                <a:solidFill>
                  <a:srgbClr val="002060"/>
                </a:solidFill>
              </a:rPr>
              <a:t>End User</a:t>
            </a:r>
            <a:endParaRPr/>
          </a:p>
        </p:txBody>
      </p:sp>
      <p:sp>
        <p:nvSpPr>
          <p:cNvPr id="91" name="Google Shape;91;p37"/>
          <p:cNvSpPr txBox="1"/>
          <p:nvPr/>
        </p:nvSpPr>
        <p:spPr>
          <a:xfrm>
            <a:off x="542925" y="1092994"/>
            <a:ext cx="6922294" cy="3262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analysts tracking sales and profit margins.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Marketing teams analyzing customer trends and segmentations.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Supply chain managers monitoring inventory and regional performance.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Senior management for strategic decision-making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>
                <a:solidFill>
                  <a:srgbClr val="002060"/>
                </a:solidFill>
              </a:rPr>
              <a:t>Wow Factor in Solution</a:t>
            </a:r>
            <a:endParaRPr/>
          </a:p>
        </p:txBody>
      </p:sp>
      <p:sp>
        <p:nvSpPr>
          <p:cNvPr id="97" name="Google Shape;97;p38"/>
          <p:cNvSpPr txBox="1"/>
          <p:nvPr/>
        </p:nvSpPr>
        <p:spPr>
          <a:xfrm>
            <a:off x="492918" y="1017725"/>
            <a:ext cx="8086725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Advanced Data Visualization</a:t>
            </a: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Interactive charts, filters, and heatmaps for in-depth analysis.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Insights</a:t>
            </a: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Dynamic reporting for up-to-date decision-making.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Region-wise Performance Analysis</a:t>
            </a: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Sales trends broken down by geography.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Segmentation</a:t>
            </a: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Identification of high-value customers and purchasing behavior.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>
                <a:solidFill>
                  <a:srgbClr val="002060"/>
                </a:solidFill>
              </a:rPr>
              <a:t>Modelling</a:t>
            </a:r>
            <a:endParaRPr/>
          </a:p>
        </p:txBody>
      </p:sp>
      <p:sp>
        <p:nvSpPr>
          <p:cNvPr id="103" name="Google Shape;103;p39"/>
          <p:cNvSpPr txBox="1"/>
          <p:nvPr/>
        </p:nvSpPr>
        <p:spPr>
          <a:xfrm>
            <a:off x="311700" y="906563"/>
            <a:ext cx="81852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Source</a:t>
            </a: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 </a:t>
            </a:r>
            <a:r>
              <a:rPr lang="en" sz="2400"/>
              <a:t>Kaggle D</a:t>
            </a: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atabase containing global superstore sales data.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Processing</a:t>
            </a: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ETL (Extract, Transform, Load) process using SAP tools.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Visualization</a:t>
            </a: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Power BI dashboard integrating key metrics.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Interaction</a:t>
            </a: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Filters and drill-down capabilities for detailed insights.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>
                <a:solidFill>
                  <a:srgbClr val="002060"/>
                </a:solidFill>
              </a:rPr>
              <a:t>Result / Outcomes</a:t>
            </a:r>
            <a:endParaRPr/>
          </a:p>
        </p:txBody>
      </p:sp>
      <p:sp>
        <p:nvSpPr>
          <p:cNvPr id="109" name="Google Shape;109;p40"/>
          <p:cNvSpPr/>
          <p:nvPr/>
        </p:nvSpPr>
        <p:spPr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0"/>
          <p:cNvSpPr/>
          <p:nvPr/>
        </p:nvSpPr>
        <p:spPr>
          <a:xfrm>
            <a:off x="152400" y="168275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0"/>
          <p:cNvSpPr/>
          <p:nvPr/>
        </p:nvSpPr>
        <p:spPr>
          <a:xfrm>
            <a:off x="485656" y="777875"/>
            <a:ext cx="8172688" cy="3600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an interactive Power BI dashboard that provides actionable insights.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Enhanced data accessibility and visualization for faster decision-making.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Improved operational efficiency through automated reporting.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Identified key sales trends and profitable regions, aiding strategic planning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0"/>
          <p:cNvSpPr/>
          <p:nvPr/>
        </p:nvSpPr>
        <p:spPr>
          <a:xfrm>
            <a:off x="304800" y="320675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>
                <a:solidFill>
                  <a:srgbClr val="002060"/>
                </a:solidFill>
              </a:rPr>
              <a:t>Conclusion</a:t>
            </a:r>
            <a:endParaRPr/>
          </a:p>
        </p:txBody>
      </p:sp>
      <p:sp>
        <p:nvSpPr>
          <p:cNvPr id="118" name="Google Shape;118;p41"/>
          <p:cNvSpPr txBox="1"/>
          <p:nvPr/>
        </p:nvSpPr>
        <p:spPr>
          <a:xfrm>
            <a:off x="707231" y="1092995"/>
            <a:ext cx="7029449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project successfully addressed the challenges of data visualization and business intelligence for the global superstore.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dashboard provides a scalable solution for real-time analytics and decision-making.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enhancements could include AI-driven predictive analytics and deeper customer insights.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>
                <a:solidFill>
                  <a:srgbClr val="002060"/>
                </a:solidFill>
              </a:rPr>
              <a:t>Future Perspective</a:t>
            </a:r>
            <a:endParaRPr/>
          </a:p>
        </p:txBody>
      </p:sp>
      <p:sp>
        <p:nvSpPr>
          <p:cNvPr id="124" name="Google Shape;124;p42"/>
          <p:cNvSpPr txBox="1"/>
          <p:nvPr/>
        </p:nvSpPr>
        <p:spPr>
          <a:xfrm>
            <a:off x="607219" y="931574"/>
            <a:ext cx="7236618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 of AI/ML models for predictive sales and trend forecasting.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Expansion to include additional KPIs such as customer satisfaction scores.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Development of a mobile-friendly version for on-the-go analytics.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integration with other enterprise tools for a seamless reporting ecosystem.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3"/>
          <p:cNvSpPr txBox="1"/>
          <p:nvPr>
            <p:ph type="title"/>
          </p:nvPr>
        </p:nvSpPr>
        <p:spPr>
          <a:xfrm>
            <a:off x="287450" y="23883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VISUAL: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0" name="Google Shape;13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343" y="811519"/>
            <a:ext cx="8265319" cy="4183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4"/>
          <p:cNvSpPr txBox="1"/>
          <p:nvPr/>
        </p:nvSpPr>
        <p:spPr>
          <a:xfrm>
            <a:off x="3166669" y="2193074"/>
            <a:ext cx="2810662" cy="4664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you...!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 Moinudeen Syed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